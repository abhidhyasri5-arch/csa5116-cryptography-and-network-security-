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97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22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7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38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93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45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01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80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0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53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F01FAA6-6317-4F02-A176-14F632133E43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463D5C3-5526-47A2-8D35-813BD16E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33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D8E8-B613-3E5A-E32A-F50919DA5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982" y="914398"/>
            <a:ext cx="10736036" cy="2862943"/>
          </a:xfrm>
        </p:spPr>
        <p:txBody>
          <a:bodyPr/>
          <a:lstStyle/>
          <a:p>
            <a:pPr algn="ctr"/>
            <a:r>
              <a:rPr lang="en-IN" sz="7200" dirty="0">
                <a:latin typeface="Britannic Bold" panose="020B0903060703020204" pitchFamily="34" charset="0"/>
              </a:rPr>
              <a:t>Hybrid Cryptography: Combining Symmetric and Asymmetric Encryption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65E12-D5E3-566E-FAEF-2A791B22F88F}"/>
              </a:ext>
            </a:extLst>
          </p:cNvPr>
          <p:cNvSpPr txBox="1"/>
          <p:nvPr/>
        </p:nvSpPr>
        <p:spPr>
          <a:xfrm>
            <a:off x="2471057" y="4288971"/>
            <a:ext cx="72498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0"/>
              </a:rPr>
              <a:t>Done By </a:t>
            </a:r>
          </a:p>
          <a:p>
            <a:pPr algn="ctr"/>
            <a:r>
              <a:rPr lang="en-US" sz="3200" dirty="0">
                <a:latin typeface="Britannic Bold" panose="020B0903060703020204" pitchFamily="34" charset="0"/>
              </a:rPr>
              <a:t>Abhidhya Sri </a:t>
            </a:r>
            <a:r>
              <a:rPr lang="en-US" sz="3200" dirty="0" err="1">
                <a:latin typeface="Britannic Bold" panose="020B0903060703020204" pitchFamily="34" charset="0"/>
              </a:rPr>
              <a:t>Mailsamy</a:t>
            </a:r>
            <a:r>
              <a:rPr lang="en-US" sz="3200" dirty="0">
                <a:latin typeface="Britannic Bold" panose="020B0903060703020204" pitchFamily="34" charset="0"/>
              </a:rPr>
              <a:t> Sumitha</a:t>
            </a:r>
          </a:p>
          <a:p>
            <a:pPr algn="ctr"/>
            <a:r>
              <a:rPr lang="en-US" sz="3200" dirty="0">
                <a:latin typeface="Britannic Bold" panose="020B0903060703020204" pitchFamily="34" charset="0"/>
              </a:rPr>
              <a:t>192520051</a:t>
            </a:r>
            <a:endParaRPr lang="en-IN" sz="32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7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59B7-6051-5F87-B713-733E4C92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040" y="423333"/>
            <a:ext cx="4567919" cy="1658198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F0415-F0AF-CA11-1EB9-BE26048C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905" y="2157731"/>
            <a:ext cx="8021411" cy="376618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Hybrid cryptography combines </a:t>
            </a:r>
            <a:r>
              <a:rPr lang="en-IN" b="1" dirty="0"/>
              <a:t>symmetric</a:t>
            </a:r>
            <a:r>
              <a:rPr lang="en-IN" dirty="0"/>
              <a:t> and </a:t>
            </a:r>
            <a:r>
              <a:rPr lang="en-IN" b="1" dirty="0"/>
              <a:t>asymmetric</a:t>
            </a:r>
            <a:r>
              <a:rPr lang="en-IN" dirty="0"/>
              <a:t> encryption techniques.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It uses the </a:t>
            </a:r>
            <a:r>
              <a:rPr lang="en-IN" b="1" dirty="0"/>
              <a:t>speed of symmetric encryption</a:t>
            </a:r>
            <a:r>
              <a:rPr lang="en-IN" dirty="0"/>
              <a:t> for data encryption.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It uses the </a:t>
            </a:r>
            <a:r>
              <a:rPr lang="en-IN" b="1" dirty="0"/>
              <a:t>security of asymmetric encryption</a:t>
            </a:r>
            <a:r>
              <a:rPr lang="en-IN" dirty="0"/>
              <a:t> for secure key exchange.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This approach provides </a:t>
            </a:r>
            <a:r>
              <a:rPr lang="en-IN" b="1" dirty="0"/>
              <a:t>fast, secure, and efficient communication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Widely used in </a:t>
            </a:r>
            <a:r>
              <a:rPr lang="en-IN" b="1" dirty="0"/>
              <a:t>HTTPS, SSL/TLS, VPNs, email encryption, and online banking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32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08FD-34AB-9F83-F240-723BB292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Hybrid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39FA0-8352-4794-930D-6B9BB7EB3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157731"/>
            <a:ext cx="10482263" cy="376618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Hybrid cryptography</a:t>
            </a:r>
            <a:r>
              <a:rPr lang="en-IN" dirty="0"/>
              <a:t> is a method that combines </a:t>
            </a:r>
            <a:r>
              <a:rPr lang="en-IN" b="1" dirty="0"/>
              <a:t>symmetric encryption</a:t>
            </a:r>
            <a:r>
              <a:rPr lang="en-IN" dirty="0"/>
              <a:t> and </a:t>
            </a:r>
            <a:r>
              <a:rPr lang="en-IN" b="1" dirty="0"/>
              <a:t>asymmetric encryption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Symmetric encryption</a:t>
            </a:r>
            <a:r>
              <a:rPr lang="en-IN" dirty="0"/>
              <a:t> encrypts data quickly using a </a:t>
            </a:r>
            <a:r>
              <a:rPr lang="en-IN" b="1" dirty="0"/>
              <a:t>single shared key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Asymmetric encryption</a:t>
            </a:r>
            <a:r>
              <a:rPr lang="en-IN" dirty="0"/>
              <a:t> securely exchanges the encryption key using a </a:t>
            </a:r>
            <a:r>
              <a:rPr lang="en-IN" b="1" dirty="0"/>
              <a:t>public and private key pair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By combining both, hybrid cryptography provides </a:t>
            </a:r>
            <a:r>
              <a:rPr lang="en-IN" b="1" dirty="0"/>
              <a:t>high speed, strong security, and efficient communication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It is commonly used in </a:t>
            </a:r>
            <a:r>
              <a:rPr lang="en-IN" b="1" dirty="0"/>
              <a:t>HTTPS, SSL/TLS, VPNs, secure email, and online banking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47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5542-ED2E-485C-D27E-F1C8CED68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Hybrid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B1DF-D639-66FD-8EBC-09E8F419B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2035629"/>
            <a:ext cx="9501869" cy="432283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Combines the </a:t>
            </a:r>
            <a:r>
              <a:rPr lang="en-IN" b="1" dirty="0"/>
              <a:t>speed of symmetric encryption</a:t>
            </a:r>
            <a:r>
              <a:rPr lang="en-IN" dirty="0"/>
              <a:t> with the </a:t>
            </a:r>
            <a:r>
              <a:rPr lang="en-IN" b="1" dirty="0"/>
              <a:t>security of asymmetric encryption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Enables </a:t>
            </a:r>
            <a:r>
              <a:rPr lang="en-IN" b="1" dirty="0"/>
              <a:t>secure key exchange</a:t>
            </a:r>
            <a:r>
              <a:rPr lang="en-IN" dirty="0"/>
              <a:t> without sharing secret keys directly.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Provides </a:t>
            </a:r>
            <a:r>
              <a:rPr lang="en-IN" b="1" dirty="0"/>
              <a:t>fast encryption</a:t>
            </a:r>
            <a:r>
              <a:rPr lang="en-IN" dirty="0"/>
              <a:t> for large amounts of data.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Reduces the computational cost compared to using only asymmetric encryption.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Ensures </a:t>
            </a:r>
            <a:r>
              <a:rPr lang="en-IN" b="1" dirty="0"/>
              <a:t>confidentiality, integrity, and authentication</a:t>
            </a:r>
            <a:r>
              <a:rPr lang="en-IN" dirty="0"/>
              <a:t> of data.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Protects sensitive information during online communication.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Widely used for secure internet services such as </a:t>
            </a:r>
            <a:r>
              <a:rPr lang="en-IN" b="1" dirty="0"/>
              <a:t>HTTPS, SSL/TLS, VPNs, and secure email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22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18C5-0732-F7D8-B838-992C46E1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709" y="641048"/>
            <a:ext cx="9868582" cy="1658198"/>
          </a:xfrm>
        </p:spPr>
        <p:txBody>
          <a:bodyPr/>
          <a:lstStyle/>
          <a:p>
            <a:r>
              <a:rPr lang="en-IN" dirty="0"/>
              <a:t>Components of Hybrid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E7F9A-1303-B203-16CD-7951A5FA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194" y="2549617"/>
            <a:ext cx="8859612" cy="303475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Symmetric Encryption</a:t>
            </a:r>
            <a:r>
              <a:rPr lang="en-IN" dirty="0"/>
              <a:t> – Encrypts data quickly using a </a:t>
            </a:r>
            <a:r>
              <a:rPr lang="en-IN" b="1" dirty="0"/>
              <a:t>shared secret key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Asymmetric Encryption</a:t>
            </a:r>
            <a:r>
              <a:rPr lang="en-IN" dirty="0"/>
              <a:t> – Securely exchanges the secret key using </a:t>
            </a:r>
            <a:r>
              <a:rPr lang="en-IN" b="1" dirty="0"/>
              <a:t>public and private keys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Session Key</a:t>
            </a:r>
            <a:r>
              <a:rPr lang="en-IN" dirty="0"/>
              <a:t> – A temporary key used to encrypt data during a session.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Key Exchange</a:t>
            </a:r>
            <a:r>
              <a:rPr lang="en-IN" dirty="0"/>
              <a:t> – Safely transfers the session key between users.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Hash Function</a:t>
            </a:r>
            <a:r>
              <a:rPr lang="en-IN" dirty="0"/>
              <a:t> – Verifies data integrity and detects tampering. </a:t>
            </a:r>
          </a:p>
        </p:txBody>
      </p:sp>
    </p:spTree>
    <p:extLst>
      <p:ext uri="{BB962C8B-B14F-4D97-AF65-F5344CB8AC3E}">
        <p14:creationId xmlns:p14="http://schemas.microsoft.com/office/powerpoint/2010/main" val="2329637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2A19-96AB-BD90-CE0F-48C14721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5" y="499533"/>
            <a:ext cx="11295290" cy="1658198"/>
          </a:xfrm>
        </p:spPr>
        <p:txBody>
          <a:bodyPr/>
          <a:lstStyle/>
          <a:p>
            <a:r>
              <a:rPr lang="en-IN" dirty="0"/>
              <a:t>Working Principle of Hybrid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F0BE6-B021-67DC-FC91-9D047170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2316480"/>
            <a:ext cx="10699977" cy="376618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A </a:t>
            </a:r>
            <a:r>
              <a:rPr lang="en-IN" b="1" dirty="0"/>
              <a:t>session key</a:t>
            </a:r>
            <a:r>
              <a:rPr lang="en-IN" dirty="0"/>
              <a:t> is generated.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The data is encrypted using </a:t>
            </a:r>
            <a:r>
              <a:rPr lang="en-IN" b="1" dirty="0"/>
              <a:t>symmetric encryption</a:t>
            </a:r>
            <a:r>
              <a:rPr lang="en-IN" dirty="0"/>
              <a:t> and the session key.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The session key is encrypted using the receiver's </a:t>
            </a:r>
            <a:r>
              <a:rPr lang="en-IN" b="1" dirty="0"/>
              <a:t>public key</a:t>
            </a:r>
            <a:r>
              <a:rPr lang="en-IN" dirty="0"/>
              <a:t> (asymmetric encryption).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Both the encrypted data and encrypted session key are sent to the receiver.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The receiver uses their </a:t>
            </a:r>
            <a:r>
              <a:rPr lang="en-IN" b="1" dirty="0"/>
              <a:t>private key</a:t>
            </a:r>
            <a:r>
              <a:rPr lang="en-IN" dirty="0"/>
              <a:t> to decrypt the session key.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The session key is then used to decrypt the original data. </a:t>
            </a:r>
          </a:p>
          <a:p>
            <a:pPr marL="0" indent="0" algn="just">
              <a:buNone/>
            </a:pPr>
            <a:r>
              <a:rPr lang="en-IN" b="1" dirty="0"/>
              <a:t>Summary:</a:t>
            </a:r>
            <a:br>
              <a:rPr lang="en-IN" dirty="0"/>
            </a:br>
            <a:r>
              <a:rPr lang="en-IN" dirty="0"/>
              <a:t>Hybrid cryptography uses </a:t>
            </a:r>
            <a:r>
              <a:rPr lang="en-IN" b="1" dirty="0"/>
              <a:t>asymmetric encryption for secure key exchange</a:t>
            </a:r>
            <a:r>
              <a:rPr lang="en-IN" dirty="0"/>
              <a:t> and </a:t>
            </a:r>
            <a:r>
              <a:rPr lang="en-IN" b="1" dirty="0"/>
              <a:t>symmetric encryption for fast data encryption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000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B086-F6CC-5BF2-137F-9313A14D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12" y="5745817"/>
            <a:ext cx="10780776" cy="613283"/>
          </a:xfrm>
        </p:spPr>
        <p:txBody>
          <a:bodyPr/>
          <a:lstStyle/>
          <a:p>
            <a:pPr algn="ctr"/>
            <a:r>
              <a:rPr lang="en-US" b="1" dirty="0"/>
              <a:t>Hybrid Cryptography - Workflow</a:t>
            </a:r>
            <a:endParaRPr lang="en-IN" b="1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CF0C1-EF3D-B447-2569-35178E27AC5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8A35CF-4992-5B77-8FB4-95B02FF6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2"/>
          <a:stretch>
            <a:fillRect/>
          </a:stretch>
        </p:blipFill>
        <p:spPr>
          <a:xfrm>
            <a:off x="1391412" y="414865"/>
            <a:ext cx="9069759" cy="4474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24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7FDA55-113B-C6ED-B9C9-055B8D50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220" y="904516"/>
            <a:ext cx="10772775" cy="817638"/>
          </a:xfrm>
        </p:spPr>
        <p:txBody>
          <a:bodyPr/>
          <a:lstStyle/>
          <a:p>
            <a:pPr algn="ctr"/>
            <a:r>
              <a:rPr lang="en-US" dirty="0"/>
              <a:t>ADVANTAGES AND LIMITATIONS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2FD51-0C02-561F-D40D-13DA45C52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C43355-8B85-288B-1B77-E8B8E9CB7F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Fast</a:t>
            </a:r>
            <a:r>
              <a:rPr lang="en-IN" dirty="0"/>
              <a:t> encryption and decryption.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Secure key exchange</a:t>
            </a:r>
            <a:r>
              <a:rPr lang="en-IN" dirty="0"/>
              <a:t> using public-key encryption.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Combines the </a:t>
            </a:r>
            <a:r>
              <a:rPr lang="en-IN" b="1" dirty="0"/>
              <a:t>speed of symmetric</a:t>
            </a:r>
            <a:r>
              <a:rPr lang="en-IN" dirty="0"/>
              <a:t> and </a:t>
            </a:r>
            <a:r>
              <a:rPr lang="en-IN" b="1" dirty="0"/>
              <a:t>security of asymmetric</a:t>
            </a:r>
            <a:r>
              <a:rPr lang="en-IN" dirty="0"/>
              <a:t> encryption.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Suitable for </a:t>
            </a:r>
            <a:r>
              <a:rPr lang="en-IN" b="1" dirty="0"/>
              <a:t>large data transmission</a:t>
            </a:r>
            <a:r>
              <a:rPr lang="en-IN" dirty="0"/>
              <a:t>. Widely used in secure communication protocols.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12F6EF-B8F3-D77C-9471-32E31DD22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698D0D-9D3D-1C4E-4136-2C15D16D68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b="1" dirty="0"/>
              <a:t>More complex</a:t>
            </a:r>
            <a:r>
              <a:rPr lang="en-IN" dirty="0"/>
              <a:t> to implement than a single encryption method.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Requires </a:t>
            </a:r>
            <a:r>
              <a:rPr lang="en-IN" b="1" dirty="0"/>
              <a:t>proper key management</a:t>
            </a:r>
            <a:r>
              <a:rPr lang="en-IN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Asymmetric encryption adds </a:t>
            </a:r>
            <a:r>
              <a:rPr lang="en-IN" b="1" dirty="0"/>
              <a:t>computational overhead</a:t>
            </a:r>
            <a:r>
              <a:rPr lang="en-IN" dirty="0"/>
              <a:t> during key exchange.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Security depends on the </a:t>
            </a:r>
            <a:r>
              <a:rPr lang="en-IN" b="1" dirty="0"/>
              <a:t>strength of both encryption algorithms</a:t>
            </a:r>
            <a:r>
              <a:rPr lang="en-IN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Vulnerable if </a:t>
            </a:r>
            <a:r>
              <a:rPr lang="en-IN" b="1" dirty="0"/>
              <a:t>private keys are compromised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671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C605-9FE3-7FCC-434F-1098FBA82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575733"/>
            <a:ext cx="10772775" cy="1658198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F957-5456-91A0-800F-5142C7BE1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5" y="2349137"/>
            <a:ext cx="8173812" cy="361623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Hybrid cryptography combines the </a:t>
            </a:r>
            <a:r>
              <a:rPr lang="en-IN" b="1" dirty="0"/>
              <a:t>speed of symmetric encryption</a:t>
            </a:r>
            <a:r>
              <a:rPr lang="en-IN" dirty="0"/>
              <a:t> with the </a:t>
            </a:r>
            <a:r>
              <a:rPr lang="en-IN" b="1" dirty="0"/>
              <a:t>security of asymmetric encryption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It provides </a:t>
            </a:r>
            <a:r>
              <a:rPr lang="en-IN" b="1" dirty="0"/>
              <a:t>fast, secure, and efficient</a:t>
            </a:r>
            <a:r>
              <a:rPr lang="en-IN" dirty="0"/>
              <a:t> data protection.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It enables </a:t>
            </a:r>
            <a:r>
              <a:rPr lang="en-IN" b="1" dirty="0"/>
              <a:t>secure key exchange</a:t>
            </a:r>
            <a:r>
              <a:rPr lang="en-IN" dirty="0"/>
              <a:t> and protects sensitive information.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Widely used in </a:t>
            </a:r>
            <a:r>
              <a:rPr lang="en-IN" b="1" dirty="0"/>
              <a:t>HTTPS, SSL/TLS, VPNs, secure email, and online banking</a:t>
            </a:r>
            <a:r>
              <a:rPr lang="en-IN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/>
              <a:t>It is one of the </a:t>
            </a:r>
            <a:r>
              <a:rPr lang="en-IN" b="1" dirty="0"/>
              <a:t>most effective encryption methods</a:t>
            </a:r>
            <a:r>
              <a:rPr lang="en-IN" dirty="0"/>
              <a:t> for modern digital communication. </a:t>
            </a:r>
          </a:p>
        </p:txBody>
      </p:sp>
    </p:spTree>
    <p:extLst>
      <p:ext uri="{BB962C8B-B14F-4D97-AF65-F5344CB8AC3E}">
        <p14:creationId xmlns:p14="http://schemas.microsoft.com/office/powerpoint/2010/main" val="365024716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55</TotalTime>
  <Words>557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Britannic Bold</vt:lpstr>
      <vt:lpstr>Calibri Light</vt:lpstr>
      <vt:lpstr>Wingdings</vt:lpstr>
      <vt:lpstr>Metropolitan</vt:lpstr>
      <vt:lpstr>Hybrid Cryptography: Combining Symmetric and Asymmetric Encryption</vt:lpstr>
      <vt:lpstr>INTRODUCTION</vt:lpstr>
      <vt:lpstr>What is Hybrid Cryptography?</vt:lpstr>
      <vt:lpstr>Need for Hybrid Cryptography</vt:lpstr>
      <vt:lpstr>Components of Hybrid Cryptography</vt:lpstr>
      <vt:lpstr>Working Principle of Hybrid Cryptography</vt:lpstr>
      <vt:lpstr>Hybrid Cryptography - Workflow</vt:lpstr>
      <vt:lpstr>ADVANTAGES AND 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Abhidhya Sri</dc:creator>
  <cp:lastModifiedBy>Abhidhya Sri</cp:lastModifiedBy>
  <cp:revision>1</cp:revision>
  <dcterms:created xsi:type="dcterms:W3CDTF">2026-07-23T13:20:46Z</dcterms:created>
  <dcterms:modified xsi:type="dcterms:W3CDTF">2026-07-29T05:38:53Z</dcterms:modified>
</cp:coreProperties>
</file>